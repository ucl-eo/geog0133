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34" r:id="rId21"/>
    <p:sldId id="335" r:id="rId22"/>
  </p:sldIdLst>
  <p:sldSz cx="10080625" cy="7559675"/>
  <p:notesSz cx="7559675" cy="10691813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872"/>
  </p:normalViewPr>
  <p:slideViewPr>
    <p:cSldViewPr snapToGrid="0" snapToObjects="1">
      <p:cViewPr varScale="1">
        <p:scale>
          <a:sx n="85" d="100"/>
          <a:sy n="85" d="100"/>
        </p:scale>
        <p:origin x="2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spcBef>
                <a:spcPts val="0"/>
              </a:spcBef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spcBef>
                <a:spcPts val="0"/>
              </a:spcBef>
              <a:defRPr/>
            </a:lvl1pPr>
            <a:lvl2pPr marL="0" marR="0" indent="0" algn="l" rtl="0">
              <a:defRPr/>
            </a:lvl2pPr>
            <a:lvl3pPr marL="0" marR="0" indent="0" algn="l" rtl="0">
              <a:defRPr/>
            </a:lvl3pPr>
            <a:lvl4pPr marL="0" marR="0" indent="0" algn="l" rtl="0">
              <a:defRPr/>
            </a:lvl4pPr>
            <a:lvl5pPr marL="0" marR="0" indent="0" algn="l" rtl="0">
              <a:defRPr/>
            </a:lvl5pPr>
            <a:lvl6pPr marL="0" marR="0" indent="0" algn="l" rtl="0">
              <a:defRPr/>
            </a:lvl6pPr>
            <a:lvl7pPr marL="0" marR="0" indent="0" algn="l" rtl="0">
              <a:defRPr/>
            </a:lvl7pPr>
            <a:lvl8pPr marL="0" marR="0" indent="0" algn="l" rtl="0">
              <a:defRPr/>
            </a:lvl8pPr>
            <a:lvl9pPr marL="0" marR="0" indent="0" algn="l" rtl="0"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46" name="Shape 446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Shape 452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buNone/>
            </a:pPr>
            <a:r>
              <a:rPr lang="en-US" sz="1800" b="0" i="0" u="none" strike="noStrike" cap="none" baseline="0" dirty="0"/>
              <a:t>Photoperiod: proportion of day to night</a:t>
            </a:r>
          </a:p>
        </p:txBody>
      </p:sp>
      <p:sp>
        <p:nvSpPr>
          <p:cNvPr id="453" name="Shape 453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61" name="Shape 461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 strike="noStrike" cap="none" baseline="0"/>
              <a:t>Burrows et al. 2011 analysed global temperature trends over the period 1960-2009 and have noted the following patterns of advance in Spring temperatures and delay in autumn temperatures.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 strike="noStrike" cap="none" baseline="0"/>
              <a:t>“Seasonal shift (days/decade) is the change in timing of monthly temperatures, shown for April (top), representing Northern Hemisphere spring and Southern Hemisphere fall and October (bottom): positive where timing advances, negative where timing is delayed. Cross-hatching shows areas with small seasonal temperature change (&lt;0.2 C/month), where seasonal shifts may be large.” </a:t>
            </a:r>
            <a:r>
              <a:rPr lang="en-US" sz="1800" b="1" i="0" u="none" strike="noStrike" cap="none" baseline="0"/>
              <a:t>Source</a:t>
            </a:r>
            <a:r>
              <a:rPr lang="en-US" sz="1800" b="0" i="0" u="none" strike="noStrike" cap="none" baseline="0"/>
              <a:t>: Burrows et al. 2011</a:t>
            </a:r>
          </a:p>
          <a:p>
            <a:endParaRPr lang="en-US" sz="1800" b="0" i="0" u="none" strike="noStrike" cap="none" baseline="0"/>
          </a:p>
          <a:p>
            <a:endParaRPr lang="en-US" sz="1800" b="0" i="0" u="none" strike="noStrike" cap="none" baseline="0"/>
          </a:p>
        </p:txBody>
      </p:sp>
      <p:sp>
        <p:nvSpPr>
          <p:cNvPr id="472" name="Shape 472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buNone/>
            </a:pPr>
            <a:r>
              <a:rPr lang="en-US" sz="1800" b="0" i="0" u="none" strike="noStrike" cap="none" baseline="0"/>
              <a:t>Plant responses to such climatic variables means that phenology is likely to change under climate change, and there is already much evidence for this.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 strike="noStrike" cap="none" baseline="0"/>
              <a:t>Our evidence for phenological changes comes from a combination of ground observations of this sort, flux towers, and satellite observations.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800" b="0" i="0" u="none" strike="noStrike" cap="none" baseline="0"/>
              <a:t>Until relatively recently there has been little work linking these two sources of information, partly due to a spatial paucity of ground data until recent years and partly because of complexities in matching the scales of the observations (Liang et al., 2011; Studer et al., 2007; White et al., 2009).</a:t>
            </a:r>
          </a:p>
          <a:p>
            <a:endParaRPr lang="en-US" sz="1800" b="0" i="0" u="none" strike="noStrike" cap="none" baseline="0"/>
          </a:p>
          <a:p>
            <a:endParaRPr lang="en-US" sz="1800" b="0" i="0" u="none" strike="noStrike" cap="none" baseline="0"/>
          </a:p>
        </p:txBody>
      </p:sp>
      <p:sp>
        <p:nvSpPr>
          <p:cNvPr id="480" name="Shape 480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487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Shape 488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endParaRPr/>
          </a:p>
        </p:txBody>
      </p:sp>
      <p:sp>
        <p:nvSpPr>
          <p:cNvPr id="489" name="Shape 489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96" name="Shape 496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03" name="Shape 50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1" name="Shape 511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8" name="Shape 518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Shape 524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buNone/>
            </a:pPr>
            <a:r>
              <a:rPr lang="en-US" sz="1800" b="0" i="0" u="none" strike="noStrike" cap="none" baseline="0" dirty="0"/>
              <a:t>e.g. </a:t>
            </a:r>
            <a:r>
              <a:rPr lang="en-US" sz="1800" b="0" i="0" u="none" strike="noStrike" cap="none" baseline="0" dirty="0" err="1"/>
              <a:t>Sobrino</a:t>
            </a:r>
            <a:r>
              <a:rPr lang="en-US" sz="1800" b="0" i="0" u="none" strike="noStrike" cap="none" baseline="0" dirty="0"/>
              <a:t> et al 2011 double logistic function of the same form for mapping changes in spring date timing trends for global vegetation from </a:t>
            </a:r>
            <a:r>
              <a:rPr lang="en-US" sz="1800" b="0" i="0" u="none" strike="noStrike" cap="none" baseline="0" dirty="0" err="1"/>
              <a:t>avhrr</a:t>
            </a:r>
            <a:endParaRPr lang="en-US" sz="1800" b="0" i="0" u="none" strike="noStrike" cap="none" baseline="0" dirty="0"/>
          </a:p>
        </p:txBody>
      </p:sp>
      <p:sp>
        <p:nvSpPr>
          <p:cNvPr id="525" name="Shape 525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530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31" name="Shape 531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37" name="Shape 537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44" name="Shape 544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50" name="Shape 550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56" name="Shape 556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641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4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42" name="Shape 642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3525" cy="4006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hape 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600950" y="6732588"/>
            <a:ext cx="2087562" cy="619124"/>
          </a:xfrm>
          <a:prstGeom prst="rect">
            <a:avLst/>
          </a:prstGeom>
        </p:spPr>
      </p:pic>
      <p:pic>
        <p:nvPicPr>
          <p:cNvPr id="18" name="Shape 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44463" y="6692900"/>
            <a:ext cx="2982912" cy="758825"/>
          </a:xfrm>
          <a:prstGeom prst="rect">
            <a:avLst/>
          </a:prstGeom>
        </p:spPr>
      </p:pic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755650" y="2347913"/>
            <a:ext cx="8569325" cy="1620836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512887" y="4284662"/>
            <a:ext cx="7056437" cy="1931986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l" rtl="0">
              <a:lnSpc>
                <a:spcPct val="93000"/>
              </a:lnSpc>
              <a:spcBef>
                <a:spcPts val="0"/>
              </a:spcBef>
              <a:spcAft>
                <a:spcPts val="1138"/>
              </a:spcAft>
              <a:defRPr/>
            </a:lvl2pPr>
            <a:lvl3pPr marL="1143000" marR="0" indent="-241300" algn="l" rtl="0">
              <a:lnSpc>
                <a:spcPct val="93000"/>
              </a:lnSpc>
              <a:spcBef>
                <a:spcPts val="0"/>
              </a:spcBef>
              <a:spcAft>
                <a:spcPts val="850"/>
              </a:spcAft>
              <a:defRPr/>
            </a:lvl3pPr>
            <a:lvl4pPr marL="16002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575"/>
              </a:spcAft>
              <a:defRPr/>
            </a:lvl4pPr>
            <a:lvl5pPr marL="20574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5pPr>
            <a:lvl6pPr marL="25146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6pPr>
            <a:lvl7pPr marL="29718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7pPr>
            <a:lvl8pPr marL="34290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8pPr>
            <a:lvl9pPr marL="38862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lnSpc>
                <a:spcPct val="93000"/>
              </a:lnSpc>
              <a:spcBef>
                <a:spcPts val="0"/>
              </a:spcBef>
              <a:spcAft>
                <a:spcPts val="1425"/>
              </a:spcAft>
              <a:defRPr/>
            </a:lvl1pPr>
            <a:lvl2pPr marL="742950" indent="-285750" algn="l" rtl="0">
              <a:lnSpc>
                <a:spcPct val="93000"/>
              </a:lnSpc>
              <a:spcBef>
                <a:spcPts val="0"/>
              </a:spcBef>
              <a:spcAft>
                <a:spcPts val="1138"/>
              </a:spcAft>
              <a:defRPr/>
            </a:lvl2pPr>
            <a:lvl3pPr marL="1143000" indent="-241300" algn="l" rtl="0">
              <a:lnSpc>
                <a:spcPct val="93000"/>
              </a:lnSpc>
              <a:spcBef>
                <a:spcPts val="0"/>
              </a:spcBef>
              <a:spcAft>
                <a:spcPts val="850"/>
              </a:spcAft>
              <a:defRPr/>
            </a:lvl3pPr>
            <a:lvl4pPr marL="1600200" indent="-228600" algn="l" rtl="0">
              <a:lnSpc>
                <a:spcPct val="93000"/>
              </a:lnSpc>
              <a:spcBef>
                <a:spcPts val="0"/>
              </a:spcBef>
              <a:spcAft>
                <a:spcPts val="575"/>
              </a:spcAft>
              <a:defRPr/>
            </a:lvl4pPr>
            <a:lvl5pPr marL="20574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5pPr>
            <a:lvl6pPr marL="25146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6pPr>
            <a:lvl7pPr marL="29718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7pPr>
            <a:lvl8pPr marL="34290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8pPr>
            <a:lvl9pPr marL="38862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t" anchorCtr="0"/>
          <a:lstStyle>
            <a:lvl1pPr algn="l"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Arial"/>
              <a:buNone/>
              <a:defRPr/>
            </a:lvl1pPr>
            <a:lvl2pPr marL="457200" indent="0" rtl="0">
              <a:buFont typeface="Arial"/>
              <a:buNone/>
              <a:defRPr/>
            </a:lvl2pPr>
            <a:lvl3pPr marL="914400" indent="0" rtl="0">
              <a:buFont typeface="Arial"/>
              <a:buNone/>
              <a:defRPr/>
            </a:lvl3pPr>
            <a:lvl4pPr marL="1371600" indent="0" rtl="0">
              <a:buFont typeface="Arial"/>
              <a:buNone/>
              <a:defRPr/>
            </a:lvl4pPr>
            <a:lvl5pPr marL="1828800" indent="0" rtl="0">
              <a:buFont typeface="Arial"/>
              <a:buNone/>
              <a:defRPr/>
            </a:lvl5pPr>
            <a:lvl6pPr marL="2286000" indent="0" rtl="0">
              <a:buFont typeface="Arial"/>
              <a:buNone/>
              <a:defRPr/>
            </a:lvl6pPr>
            <a:lvl7pPr marL="2743200" indent="0" rtl="0">
              <a:buFont typeface="Arial"/>
              <a:buNone/>
              <a:defRPr/>
            </a:lvl7pPr>
            <a:lvl8pPr marL="3200400" indent="0" rtl="0">
              <a:buFont typeface="Arial"/>
              <a:buNone/>
              <a:defRPr/>
            </a:lvl8pPr>
            <a:lvl9pPr marL="3657600" indent="0" rtl="0"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4457700" cy="49879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5114925" y="1768475"/>
            <a:ext cx="4457700" cy="49879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504825" y="303212"/>
            <a:ext cx="9072562" cy="1258887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504825" y="1692275"/>
            <a:ext cx="4452937" cy="7048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Arial"/>
              <a:buNone/>
              <a:defRPr/>
            </a:lvl1pPr>
            <a:lvl2pPr marL="457200" indent="0" rtl="0">
              <a:buFont typeface="Arial"/>
              <a:buNone/>
              <a:defRPr/>
            </a:lvl2pPr>
            <a:lvl3pPr marL="914400" indent="0" rtl="0">
              <a:buFont typeface="Arial"/>
              <a:buNone/>
              <a:defRPr/>
            </a:lvl3pPr>
            <a:lvl4pPr marL="1371600" indent="0" rtl="0">
              <a:buFont typeface="Arial"/>
              <a:buNone/>
              <a:defRPr/>
            </a:lvl4pPr>
            <a:lvl5pPr marL="1828800" indent="0" rtl="0">
              <a:buFont typeface="Arial"/>
              <a:buNone/>
              <a:defRPr/>
            </a:lvl5pPr>
            <a:lvl6pPr marL="2286000" indent="0" rtl="0">
              <a:buFont typeface="Arial"/>
              <a:buNone/>
              <a:defRPr/>
            </a:lvl6pPr>
            <a:lvl7pPr marL="2743200" indent="0" rtl="0">
              <a:buFont typeface="Arial"/>
              <a:buNone/>
              <a:defRPr/>
            </a:lvl7pPr>
            <a:lvl8pPr marL="3200400" indent="0" rtl="0">
              <a:buFont typeface="Arial"/>
              <a:buNone/>
              <a:defRPr/>
            </a:lvl8pPr>
            <a:lvl9pPr marL="3657600" indent="0" rtl="0"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504825" y="2397125"/>
            <a:ext cx="4452937" cy="435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5121275" y="1692275"/>
            <a:ext cx="4456112" cy="7048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Arial"/>
              <a:buNone/>
              <a:defRPr/>
            </a:lvl1pPr>
            <a:lvl2pPr marL="457200" indent="0" rtl="0">
              <a:buFont typeface="Arial"/>
              <a:buNone/>
              <a:defRPr/>
            </a:lvl2pPr>
            <a:lvl3pPr marL="914400" indent="0" rtl="0">
              <a:buFont typeface="Arial"/>
              <a:buNone/>
              <a:defRPr/>
            </a:lvl3pPr>
            <a:lvl4pPr marL="1371600" indent="0" rtl="0">
              <a:buFont typeface="Arial"/>
              <a:buNone/>
              <a:defRPr/>
            </a:lvl4pPr>
            <a:lvl5pPr marL="1828800" indent="0" rtl="0">
              <a:buFont typeface="Arial"/>
              <a:buNone/>
              <a:defRPr/>
            </a:lvl5pPr>
            <a:lvl6pPr marL="2286000" indent="0" rtl="0">
              <a:buFont typeface="Arial"/>
              <a:buNone/>
              <a:defRPr/>
            </a:lvl6pPr>
            <a:lvl7pPr marL="2743200" indent="0" rtl="0">
              <a:buFont typeface="Arial"/>
              <a:buNone/>
              <a:defRPr/>
            </a:lvl7pPr>
            <a:lvl8pPr marL="3200400" indent="0" rtl="0">
              <a:buFont typeface="Arial"/>
              <a:buNone/>
              <a:defRPr/>
            </a:lvl8pPr>
            <a:lvl9pPr marL="3657600" indent="0" rtl="0"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4"/>
          </p:nvPr>
        </p:nvSpPr>
        <p:spPr>
          <a:xfrm>
            <a:off x="5121275" y="2397125"/>
            <a:ext cx="4456112" cy="435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3316287" cy="1279525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941762" y="301625"/>
            <a:ext cx="5635625" cy="6451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504825" y="1581150"/>
            <a:ext cx="3316287" cy="517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buFont typeface="Arial"/>
              <a:buNone/>
              <a:defRPr/>
            </a:lvl1pPr>
            <a:lvl2pPr marL="457200" indent="0" rtl="0">
              <a:buFont typeface="Arial"/>
              <a:buNone/>
              <a:defRPr/>
            </a:lvl2pPr>
            <a:lvl3pPr marL="914400" indent="0" rtl="0">
              <a:buFont typeface="Arial"/>
              <a:buNone/>
              <a:defRPr/>
            </a:lvl3pPr>
            <a:lvl4pPr marL="1371600" indent="0" rtl="0">
              <a:buFont typeface="Arial"/>
              <a:buNone/>
              <a:defRPr/>
            </a:lvl4pPr>
            <a:lvl5pPr marL="1828800" indent="0" rtl="0">
              <a:buFont typeface="Arial"/>
              <a:buNone/>
              <a:defRPr/>
            </a:lvl5pPr>
            <a:lvl6pPr marL="2286000" indent="0" rtl="0">
              <a:buFont typeface="Arial"/>
              <a:buNone/>
              <a:defRPr/>
            </a:lvl6pPr>
            <a:lvl7pPr marL="2743200" indent="0" rtl="0">
              <a:buFont typeface="Arial"/>
              <a:buNone/>
              <a:defRPr/>
            </a:lvl7pPr>
            <a:lvl8pPr marL="3200400" indent="0" rtl="0">
              <a:buFont typeface="Arial"/>
              <a:buNone/>
              <a:defRPr/>
            </a:lvl8pPr>
            <a:lvl9pPr marL="3657600" indent="0" rtl="0"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976438" y="5291137"/>
            <a:ext cx="6048374" cy="625475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544762" y="-271462"/>
            <a:ext cx="4987924" cy="906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lnSpc>
                <a:spcPct val="93000"/>
              </a:lnSpc>
              <a:spcBef>
                <a:spcPts val="0"/>
              </a:spcBef>
              <a:spcAft>
                <a:spcPts val="1425"/>
              </a:spcAft>
              <a:defRPr/>
            </a:lvl1pPr>
            <a:lvl2pPr marL="742950" indent="-285750" algn="l" rtl="0">
              <a:lnSpc>
                <a:spcPct val="93000"/>
              </a:lnSpc>
              <a:spcBef>
                <a:spcPts val="0"/>
              </a:spcBef>
              <a:spcAft>
                <a:spcPts val="1138"/>
              </a:spcAft>
              <a:defRPr/>
            </a:lvl2pPr>
            <a:lvl3pPr marL="1143000" indent="-241300" algn="l" rtl="0">
              <a:lnSpc>
                <a:spcPct val="93000"/>
              </a:lnSpc>
              <a:spcBef>
                <a:spcPts val="0"/>
              </a:spcBef>
              <a:spcAft>
                <a:spcPts val="850"/>
              </a:spcAft>
              <a:defRPr/>
            </a:lvl3pPr>
            <a:lvl4pPr marL="1600200" indent="-228600" algn="l" rtl="0">
              <a:lnSpc>
                <a:spcPct val="93000"/>
              </a:lnSpc>
              <a:spcBef>
                <a:spcPts val="0"/>
              </a:spcBef>
              <a:spcAft>
                <a:spcPts val="575"/>
              </a:spcAft>
              <a:defRPr/>
            </a:lvl4pPr>
            <a:lvl5pPr marL="20574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5pPr>
            <a:lvl6pPr marL="25146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6pPr>
            <a:lvl7pPr marL="29718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7pPr>
            <a:lvl8pPr marL="34290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8pPr>
            <a:lvl9pPr marL="38862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5211762" y="2395537"/>
            <a:ext cx="6454775" cy="2266949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601662" y="204787"/>
            <a:ext cx="6454775" cy="6648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lnSpc>
                <a:spcPct val="93000"/>
              </a:lnSpc>
              <a:spcBef>
                <a:spcPts val="0"/>
              </a:spcBef>
              <a:spcAft>
                <a:spcPts val="1425"/>
              </a:spcAft>
              <a:defRPr/>
            </a:lvl1pPr>
            <a:lvl2pPr marL="742950" indent="-285750" algn="l" rtl="0">
              <a:lnSpc>
                <a:spcPct val="93000"/>
              </a:lnSpc>
              <a:spcBef>
                <a:spcPts val="0"/>
              </a:spcBef>
              <a:spcAft>
                <a:spcPts val="1138"/>
              </a:spcAft>
              <a:defRPr/>
            </a:lvl2pPr>
            <a:lvl3pPr marL="1143000" indent="-241300" algn="l" rtl="0">
              <a:lnSpc>
                <a:spcPct val="93000"/>
              </a:lnSpc>
              <a:spcBef>
                <a:spcPts val="0"/>
              </a:spcBef>
              <a:spcAft>
                <a:spcPts val="850"/>
              </a:spcAft>
              <a:defRPr/>
            </a:lvl3pPr>
            <a:lvl4pPr marL="1600200" indent="-228600" algn="l" rtl="0">
              <a:lnSpc>
                <a:spcPct val="93000"/>
              </a:lnSpc>
              <a:spcBef>
                <a:spcPts val="0"/>
              </a:spcBef>
              <a:spcAft>
                <a:spcPts val="575"/>
              </a:spcAft>
              <a:defRPr/>
            </a:lvl4pPr>
            <a:lvl5pPr marL="20574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5pPr>
            <a:lvl6pPr marL="25146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6pPr>
            <a:lvl7pPr marL="29718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7pPr>
            <a:lvl8pPr marL="34290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8pPr>
            <a:lvl9pPr marL="388620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marL="25146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marL="29718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marL="34290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marL="3886200" marR="0" indent="-2286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l" rtl="0">
              <a:lnSpc>
                <a:spcPct val="93000"/>
              </a:lnSpc>
              <a:spcBef>
                <a:spcPts val="0"/>
              </a:spcBef>
              <a:spcAft>
                <a:spcPts val="1425"/>
              </a:spcAft>
              <a:defRPr/>
            </a:lvl1pPr>
            <a:lvl2pPr marL="742950" marR="0" indent="-285750" algn="l" rtl="0">
              <a:lnSpc>
                <a:spcPct val="93000"/>
              </a:lnSpc>
              <a:spcBef>
                <a:spcPts val="0"/>
              </a:spcBef>
              <a:spcAft>
                <a:spcPts val="1138"/>
              </a:spcAft>
              <a:defRPr/>
            </a:lvl2pPr>
            <a:lvl3pPr marL="1143000" marR="0" indent="-241300" algn="l" rtl="0">
              <a:lnSpc>
                <a:spcPct val="93000"/>
              </a:lnSpc>
              <a:spcBef>
                <a:spcPts val="0"/>
              </a:spcBef>
              <a:spcAft>
                <a:spcPts val="850"/>
              </a:spcAft>
              <a:defRPr/>
            </a:lvl3pPr>
            <a:lvl4pPr marL="16002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575"/>
              </a:spcAft>
              <a:defRPr/>
            </a:lvl4pPr>
            <a:lvl5pPr marL="20574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5pPr>
            <a:lvl6pPr marL="25146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6pPr>
            <a:lvl7pPr marL="29718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7pPr>
            <a:lvl8pPr marL="34290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8pPr>
            <a:lvl9pPr marL="3886200" marR="0" indent="-228600" algn="l" rtl="0">
              <a:lnSpc>
                <a:spcPct val="93000"/>
              </a:lnSpc>
              <a:spcBef>
                <a:spcPts val="0"/>
              </a:spcBef>
              <a:spcAft>
                <a:spcPts val="288"/>
              </a:spcAft>
              <a:defRPr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dt" idx="10"/>
          </p:nvPr>
        </p:nvSpPr>
        <p:spPr>
          <a:xfrm>
            <a:off x="504825" y="6886575"/>
            <a:ext cx="2344737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ftr" idx="11"/>
          </p:nvPr>
        </p:nvSpPr>
        <p:spPr>
          <a:xfrm>
            <a:off x="3448050" y="6886575"/>
            <a:ext cx="3194049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7227888" y="6886575"/>
            <a:ext cx="2346324" cy="519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 marL="457200" marR="0" indent="0" algn="l" rtl="0">
              <a:defRPr/>
            </a:lvl2pPr>
            <a:lvl3pPr marL="914400" marR="0" indent="0" algn="l" rtl="0">
              <a:defRPr/>
            </a:lvl3pPr>
            <a:lvl4pPr marL="1371600" marR="0" indent="0" algn="l" rtl="0">
              <a:defRPr/>
            </a:lvl4pPr>
            <a:lvl5pPr marL="1828800" marR="0" indent="0" algn="l" rtl="0">
              <a:defRPr/>
            </a:lvl5pPr>
            <a:lvl6pPr marL="2286000" marR="0" indent="0" algn="l" rtl="0">
              <a:defRPr/>
            </a:lvl6pPr>
            <a:lvl7pPr marL="2743200" marR="0" indent="0" algn="l" rtl="0">
              <a:defRPr/>
            </a:lvl7pPr>
            <a:lvl8pPr marL="3200400" marR="0" indent="0" algn="l" rtl="0">
              <a:defRPr/>
            </a:lvl8pPr>
            <a:lvl9pPr marL="3657600" marR="0" indent="0" algn="l" rtl="0">
              <a:defRPr/>
            </a:lvl9pPr>
          </a:lstStyle>
          <a:p>
            <a:endParaRPr/>
          </a:p>
        </p:txBody>
      </p:sp>
      <p:pic>
        <p:nvPicPr>
          <p:cNvPr id="14" name="Shape 14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7600950" y="6732588"/>
            <a:ext cx="2087562" cy="619124"/>
          </a:xfrm>
          <a:prstGeom prst="rect">
            <a:avLst/>
          </a:prstGeom>
        </p:spPr>
      </p:pic>
      <p:pic>
        <p:nvPicPr>
          <p:cNvPr id="15" name="Shape 15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144463" y="6692900"/>
            <a:ext cx="2982912" cy="75882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oearth.org/article/Phenological_Researc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ctrTitle"/>
          </p:nvPr>
        </p:nvSpPr>
        <p:spPr>
          <a:xfrm>
            <a:off x="719831" y="179436"/>
            <a:ext cx="8568629" cy="172819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SzPct val="25000"/>
            </a:pPr>
            <a:r>
              <a:rPr lang="en-US" sz="36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GEOG0113 </a:t>
            </a:r>
            <a:r>
              <a:rPr lang="en-US" sz="3600" b="1" dirty="0"/>
              <a:t>Lecture 009</a:t>
            </a:r>
            <a:br>
              <a:rPr lang="en-US" sz="36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3600" b="1" dirty="0"/>
              <a:t>Phenology</a:t>
            </a:r>
            <a:endParaRPr lang="en-US" sz="3600" b="1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Shape 86"/>
          <p:cNvSpPr txBox="1">
            <a:spLocks noGrp="1"/>
          </p:cNvSpPr>
          <p:nvPr>
            <p:ph type="subTitle" idx="1"/>
          </p:nvPr>
        </p:nvSpPr>
        <p:spPr>
          <a:xfrm>
            <a:off x="1839911" y="3779837"/>
            <a:ext cx="6172199" cy="2362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lIns="0" tIns="28200" rIns="0" bIns="0" anchor="ctr" anchorCtr="1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2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</a:t>
            </a:r>
            <a:r>
              <a:rPr lang="en-US" sz="3200" b="1" i="0" u="none" strike="noStrike" cap="non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Heorton</a:t>
            </a:r>
            <a:endParaRPr lang="en-US" sz="3200" b="1"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200" b="1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UCL Geography 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NERC NCEO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Aims of lecture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342900" marR="0" lvl="0" indent="-342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lecture, we will consider: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 concepts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-US" sz="2400" dirty="0"/>
              <a:t>Phenology models</a:t>
            </a:r>
            <a:endParaRPr lang="en-US" sz="24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endParaRPr lang="en-US" sz="24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4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</a:t>
            </a:r>
          </a:p>
        </p:txBody>
      </p:sp>
      <p:pic>
        <p:nvPicPr>
          <p:cNvPr id="436" name="Shape 4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31800" y="2719383"/>
            <a:ext cx="9067800" cy="3076382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1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 - </a:t>
            </a:r>
            <a:r>
              <a:rPr lang="en-US" sz="44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</a:t>
            </a:r>
          </a:p>
        </p:txBody>
      </p:sp>
      <p:sp>
        <p:nvSpPr>
          <p:cNvPr id="443" name="Shape 443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457200" marR="0" lvl="0" indent="-457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study of periodic events in biological life cycles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dirty="0"/>
              <a:t>P</a:t>
            </a: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lants experience daily and seasonal variations in environmental conditions. 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 to adjust their </a:t>
            </a:r>
            <a:r>
              <a:rPr lang="en-US" sz="2800" b="0" i="0" u="none" strike="noStrike" cap="non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behaviour</a:t>
            </a: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these variations. 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diurnal variations in light, temperature and water.</a:t>
            </a:r>
          </a:p>
          <a:p>
            <a:pPr marL="1257300" marR="0" lvl="2" indent="-4572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plants then exhibit circadian rhythms (24 hour cycles) for example in stomatal opening</a:t>
            </a:r>
          </a:p>
          <a:p>
            <a:pPr marL="857250" lvl="1" indent="-457200"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dirty="0"/>
              <a:t>Seasonal timings</a:t>
            </a:r>
            <a:endParaRPr lang="en-US" sz="28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4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4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</a:t>
            </a:r>
          </a:p>
        </p:txBody>
      </p:sp>
      <p:sp>
        <p:nvSpPr>
          <p:cNvPr id="449" name="Shape 449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457200" marR="0" lvl="0" indent="-457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temperate climate plants: strong seasonal variations in environment (but also some tropical – wet/dry seasons)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generally exhibit a predictable pattern of phenology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more resources into leaf production at certain times, flowers at others etc.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leaf senescence timing from photoperiod</a:t>
            </a:r>
          </a:p>
          <a:p>
            <a:pPr marL="1257300" marR="0" lvl="2" indent="-4572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Cues onset of winter</a:t>
            </a:r>
          </a:p>
          <a:p>
            <a:pPr marL="1257300" marR="0" lvl="2" indent="-457200" algn="l" rtl="0">
              <a:lnSpc>
                <a:spcPct val="93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 resources (nutrients, carbohydrates, water) from leaves to other organs to prevent their loss from the plant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Extratropics (outside tropics)</a:t>
            </a:r>
          </a:p>
        </p:txBody>
      </p:sp>
      <p:pic>
        <p:nvPicPr>
          <p:cNvPr id="456" name="Shape 45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082094" y="1768475"/>
            <a:ext cx="4674170" cy="4987924"/>
          </a:xfrm>
          <a:prstGeom prst="rect">
            <a:avLst/>
          </a:prstGeom>
        </p:spPr>
      </p:pic>
      <p:sp>
        <p:nvSpPr>
          <p:cNvPr id="458" name="Shape 458"/>
          <p:cNvSpPr/>
          <p:nvPr/>
        </p:nvSpPr>
        <p:spPr>
          <a:xfrm>
            <a:off x="143768" y="2195661"/>
            <a:ext cx="4464496" cy="297979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Photoperiod same in winter and autumn, </a:t>
            </a:r>
          </a:p>
          <a:p>
            <a:pPr marL="1085850" marR="0" lvl="1" indent="-349250" rtl="0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plants need a cue that winter is over.</a:t>
            </a:r>
          </a:p>
          <a:p>
            <a:pPr marL="1085850" marR="0" lvl="1" indent="-349250" rtl="0">
              <a:lnSpc>
                <a:spcPct val="93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This is often obtained from the dose of low T … a ‘chilling’ requirement by some plants before spring bud burst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Shape 46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248" y="314533"/>
            <a:ext cx="8282358" cy="3133555"/>
          </a:xfrm>
          <a:prstGeom prst="rect">
            <a:avLst/>
          </a:prstGeom>
        </p:spPr>
      </p:pic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-248" y="-396627"/>
            <a:ext cx="8282358" cy="4555876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  <p:pic>
        <p:nvPicPr>
          <p:cNvPr id="465" name="Shape 46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72255" y="3923853"/>
            <a:ext cx="8169384" cy="3600400"/>
          </a:xfrm>
          <a:prstGeom prst="rect">
            <a:avLst/>
          </a:prstGeom>
        </p:spPr>
      </p:pic>
      <p:sp>
        <p:nvSpPr>
          <p:cNvPr id="466" name="Shape 466"/>
          <p:cNvSpPr txBox="1"/>
          <p:nvPr/>
        </p:nvSpPr>
        <p:spPr>
          <a:xfrm>
            <a:off x="7704608" y="1414874"/>
            <a:ext cx="1992402" cy="44012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(April</a:t>
            </a:r>
            <a:r>
              <a:rPr lang="en-US" sz="2400" dirty="0"/>
              <a:t>)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 Spring Temp.</a:t>
            </a:r>
          </a:p>
        </p:txBody>
      </p:sp>
      <p:sp>
        <p:nvSpPr>
          <p:cNvPr id="467" name="Shape 467"/>
          <p:cNvSpPr txBox="1"/>
          <p:nvPr/>
        </p:nvSpPr>
        <p:spPr>
          <a:xfrm>
            <a:off x="7984328" y="5181571"/>
            <a:ext cx="2096297" cy="44012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(October)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 Autumn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Temp.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584325" y="3419796"/>
            <a:ext cx="4855717" cy="44012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shift in temp. 1960-2009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474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</a:t>
            </a:r>
          </a:p>
        </p:txBody>
      </p:sp>
      <p:pic>
        <p:nvPicPr>
          <p:cNvPr id="475" name="Shape 47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374325" y="1768475"/>
            <a:ext cx="5328796" cy="4987925"/>
          </a:xfrm>
          <a:prstGeom prst="rect">
            <a:avLst/>
          </a:prstGeom>
        </p:spPr>
      </p:pic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of phenology</a:t>
            </a:r>
          </a:p>
        </p:txBody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342900" marR="0" lvl="0" indent="-342900" algn="l" rtl="0">
              <a:lnSpc>
                <a:spcPct val="93000"/>
              </a:lnSpc>
              <a:spcBef>
                <a:spcPts val="0"/>
              </a:spcBef>
              <a:spcAft>
                <a:spcPts val="1425"/>
              </a:spcAft>
              <a:buSzPct val="25000"/>
              <a:buNone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Simplest: logistic </a:t>
            </a:r>
            <a:r>
              <a:rPr lang="en-US" sz="3200" b="0" i="0" u="none" strike="noStrike" cap="non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time</a:t>
            </a:r>
          </a:p>
        </p:txBody>
      </p:sp>
      <p:pic>
        <p:nvPicPr>
          <p:cNvPr id="484" name="Shape 48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328344" y="1619596"/>
            <a:ext cx="4155704" cy="1165151"/>
          </a:xfrm>
          <a:prstGeom prst="rect">
            <a:avLst/>
          </a:prstGeom>
        </p:spPr>
      </p:pic>
      <p:sp>
        <p:nvSpPr>
          <p:cNvPr id="485" name="Shape 485"/>
          <p:cNvSpPr/>
          <p:nvPr/>
        </p:nvSpPr>
        <p:spPr>
          <a:xfrm>
            <a:off x="575816" y="2987749"/>
            <a:ext cx="6811730" cy="4980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Zhang et al., 2003 MODIS phenology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features of phenology</a:t>
            </a:r>
          </a:p>
        </p:txBody>
      </p:sp>
      <p:pic>
        <p:nvPicPr>
          <p:cNvPr id="492" name="Shape 49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76363" y="1768475"/>
            <a:ext cx="6524722" cy="4987924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498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features of phenology</a:t>
            </a:r>
          </a:p>
        </p:txBody>
      </p:sp>
      <p:pic>
        <p:nvPicPr>
          <p:cNvPr id="499" name="Shape 49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11398" y="1768475"/>
            <a:ext cx="5654652" cy="4987925"/>
          </a:xfrm>
          <a:prstGeom prst="rect">
            <a:avLst/>
          </a:prstGeom>
        </p:spPr>
      </p:pic>
      <p:sp>
        <p:nvSpPr>
          <p:cNvPr id="500" name="Shape 500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Shape 50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416" y="-36586"/>
            <a:ext cx="6079055" cy="7560840"/>
          </a:xfrm>
          <a:prstGeom prst="rect">
            <a:avLst/>
          </a:prstGeom>
        </p:spPr>
      </p:pic>
      <p:sp>
        <p:nvSpPr>
          <p:cNvPr id="506" name="Shape 506"/>
          <p:cNvSpPr txBox="1">
            <a:spLocks noGrp="1"/>
          </p:cNvSpPr>
          <p:nvPr>
            <p:ph type="body" idx="1"/>
          </p:nvPr>
        </p:nvSpPr>
        <p:spPr>
          <a:xfrm>
            <a:off x="-3816671" y="-36586"/>
            <a:ext cx="13745232" cy="756083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507" name="Shape 507"/>
          <p:cNvSpPr/>
          <p:nvPr/>
        </p:nvSpPr>
        <p:spPr>
          <a:xfrm>
            <a:off x="6264448" y="971525"/>
            <a:ext cx="2664295" cy="267201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processing provides valuable spatial datasets of information related to phenology and allows the tracking of dynamics of the phenology metrics over time. </a:t>
            </a:r>
          </a:p>
        </p:txBody>
      </p:sp>
      <p:sp>
        <p:nvSpPr>
          <p:cNvPr id="508" name="Shape 508"/>
          <p:cNvSpPr/>
          <p:nvPr/>
        </p:nvSpPr>
        <p:spPr>
          <a:xfrm>
            <a:off x="6192439" y="4283892"/>
            <a:ext cx="3311449" cy="95462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of this sort is used to derive </a:t>
            </a:r>
            <a:r>
              <a:rPr lang="en-US" sz="2000" b="0" i="1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are then used to model phenology.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(Growing) Degree day model</a:t>
            </a:r>
          </a:p>
        </p:txBody>
      </p:sp>
      <p:sp>
        <p:nvSpPr>
          <p:cNvPr id="514" name="Shape 514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457200" marR="0" lvl="0" indent="-457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simplest form of model that can be used prognostically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really appropriate where temperature is a limiting factor in plant growth (the extratopics).</a:t>
            </a:r>
          </a:p>
          <a:p>
            <a:endParaRPr lang="en-US" sz="28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8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8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some threshold value of GDD </a:t>
            </a:r>
            <a:r>
              <a:rPr lang="en-US" sz="2800" b="0" i="1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∗ that corresponds to the metric of interest. 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essentially 2 parameters (Tbase &amp; F*)</a:t>
            </a:r>
          </a:p>
        </p:txBody>
      </p:sp>
      <p:pic>
        <p:nvPicPr>
          <p:cNvPr id="515" name="Shape 5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168103" y="3419796"/>
            <a:ext cx="4084139" cy="1254051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Shape 5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3473" y="0"/>
            <a:ext cx="7318964" cy="75596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6B9D2C-D75F-4340-BECD-2BF0B9C94EDF}"/>
              </a:ext>
            </a:extLst>
          </p:cNvPr>
          <p:cNvSpPr txBox="1"/>
          <p:nvPr/>
        </p:nvSpPr>
        <p:spPr>
          <a:xfrm>
            <a:off x="7362437" y="219456"/>
            <a:ext cx="243993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Sobrino</a:t>
            </a:r>
            <a:r>
              <a:rPr lang="en-GB" dirty="0"/>
              <a:t> et al. (2011) </a:t>
            </a:r>
            <a:r>
              <a:rPr lang="en-GB" i="1" dirty="0"/>
              <a:t>Int. J. Remote Sens.</a:t>
            </a:r>
            <a:r>
              <a:rPr lang="en-GB" dirty="0"/>
              <a:t>, </a:t>
            </a:r>
            <a:r>
              <a:rPr lang="en-GB" b="1" dirty="0"/>
              <a:t>32</a:t>
            </a:r>
            <a:r>
              <a:rPr lang="en-GB" dirty="0"/>
              <a:t>, 5247–5265.</a:t>
            </a:r>
          </a:p>
          <a:p>
            <a:endParaRPr lang="en-GB" dirty="0"/>
          </a:p>
          <a:p>
            <a:r>
              <a:rPr lang="en-GB" dirty="0"/>
              <a:t>BUT many papers on this </a:t>
            </a:r>
            <a:r>
              <a:rPr lang="en-GB" dirty="0" err="1"/>
              <a:t>eg</a:t>
            </a:r>
            <a:r>
              <a:rPr lang="en-GB" dirty="0"/>
              <a:t> see Rodriguez‐Galiano et al. (2016) </a:t>
            </a:r>
            <a:r>
              <a:rPr lang="en-GB" dirty="0" err="1"/>
              <a:t>Intercomparison</a:t>
            </a:r>
            <a:r>
              <a:rPr lang="en-GB" dirty="0"/>
              <a:t> of satellite sensor land surface phenology and ground phenology in Europe, GRL,42 (7), 2253-2260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calibration</a:t>
            </a:r>
          </a:p>
        </p:txBody>
      </p:sp>
      <p:sp>
        <p:nvSpPr>
          <p:cNvPr id="528" name="Shape 528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457200" marR="0" lvl="0" indent="-457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 data (e.g. satellite VI) and T dataset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 phenology metric (e.g. bud burst) from VI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out which Tbase &amp; F* give best fit to this 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long time series per location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138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assuming parameters constant spatially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Chilling</a:t>
            </a:r>
          </a:p>
        </p:txBody>
      </p:sp>
      <p:sp>
        <p:nvSpPr>
          <p:cNvPr id="534" name="Shape 534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342900" marR="0" lvl="0" indent="-342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incorporate chilling: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 models: 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forcing only starts when the chilling requirement is met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 models: 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chilling and forcing accumulated in parallel and critical values then applied to both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alternating models: 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temperature </a:t>
            </a:r>
            <a:r>
              <a:rPr lang="en-US" sz="2400" b="0" i="1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∗ is a decreasing function of chilling.</a:t>
            </a:r>
          </a:p>
          <a:p>
            <a:endParaRPr lang="en-US" sz="2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Shape 5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19482" y="-468635"/>
            <a:ext cx="5936621" cy="8028310"/>
          </a:xfrm>
          <a:prstGeom prst="rect">
            <a:avLst/>
          </a:prstGeom>
        </p:spPr>
      </p:pic>
      <p:sp>
        <p:nvSpPr>
          <p:cNvPr id="540" name="Shape 540"/>
          <p:cNvSpPr txBox="1">
            <a:spLocks noGrp="1"/>
          </p:cNvSpPr>
          <p:nvPr>
            <p:ph type="body" idx="1"/>
          </p:nvPr>
        </p:nvSpPr>
        <p:spPr>
          <a:xfrm>
            <a:off x="-409741" y="-468635"/>
            <a:ext cx="14595069" cy="802831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541" name="Shape 541"/>
          <p:cNvSpPr/>
          <p:nvPr/>
        </p:nvSpPr>
        <p:spPr>
          <a:xfrm>
            <a:off x="0" y="-20885"/>
            <a:ext cx="3207713" cy="425429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Picard et al. (2005) use NDWI to track chilling for Siberia</a:t>
            </a:r>
          </a:p>
          <a:p>
            <a:endParaRPr lang="en-US" sz="32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1600"/>
              </a:spcBef>
              <a:spcAft>
                <a:spcPts val="0"/>
              </a:spcAft>
              <a:buSzPct val="25000"/>
              <a:buNone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to calibrate DGVM 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tropics</a:t>
            </a:r>
          </a:p>
        </p:txBody>
      </p:sp>
      <p:sp>
        <p:nvSpPr>
          <p:cNvPr id="547" name="Shape 547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457200" marR="0" lvl="0" indent="-4572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simulating and understanding phenology is complicated </a:t>
            </a: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Mainly water constraint</a:t>
            </a:r>
          </a:p>
          <a:p>
            <a:pPr marL="857250" marR="0" lvl="1" indent="-4635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complicated as not just dept. on precipitation</a:t>
            </a:r>
          </a:p>
          <a:p>
            <a:pPr marL="1257300" marR="0" lvl="2" indent="-4572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Plants may have deep or shallow roots</a:t>
            </a:r>
          </a:p>
          <a:p>
            <a:endParaRPr lang="en-US" sz="24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state of phenology models in DGVMs for tropical areas then is at present rather weak and an area of active research.</a:t>
            </a:r>
          </a:p>
          <a:p>
            <a:endParaRPr lang="en-US" sz="32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552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1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</a:p>
        </p:txBody>
      </p:sp>
      <p:sp>
        <p:nvSpPr>
          <p:cNvPr id="553" name="Shape 553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pPr marL="342900" marR="0" lvl="0" indent="-3429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 important concept in monitoring, modelling and understanding vegetation dynamics and its response to climate variations. </a:t>
            </a:r>
          </a:p>
          <a:p>
            <a:pPr marL="742950" marR="0" lvl="1" indent="-28575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6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growing amount of observational data on phenology at various scales and more recent attempts to reconcile measures at different scales.</a:t>
            </a:r>
          </a:p>
          <a:p>
            <a:pPr marL="342900" marR="0" lvl="0" indent="-3429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likely that for some areas at least, species specific (or </a:t>
            </a:r>
            <a:r>
              <a:rPr lang="en-US" sz="2000" b="0" i="0" u="none" strike="noStrike" cap="non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slighly</a:t>
            </a: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broader groupings of species) </a:t>
            </a:r>
            <a:r>
              <a:rPr lang="en-US" sz="2000" b="0" i="0" u="none" strike="noStrike" cap="non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parameterisations</a:t>
            </a: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phenology need to be considered rather than just broad PFT definitions.</a:t>
            </a:r>
          </a:p>
          <a:p>
            <a:pPr marL="342900" marR="0" lvl="0" indent="-3429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phenology analysis is done using simple degree day models, although some analyses also consider chilling requirements.</a:t>
            </a:r>
          </a:p>
          <a:p>
            <a:pPr marL="342900" marR="0" lvl="0" indent="-3429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Phenology models in DGVMs may be phrased rather differently to those used in most analyses. Whilst maintaining a required ‘mechanistic approach’, current DGVM phenology models are not entirely satisfactory.</a:t>
            </a:r>
          </a:p>
          <a:p>
            <a:endParaRPr lang="en-US" sz="20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 txBox="1">
            <a:spLocks noGrp="1"/>
          </p:cNvSpPr>
          <p:nvPr>
            <p:ph type="title"/>
          </p:nvPr>
        </p:nvSpPr>
        <p:spPr>
          <a:xfrm>
            <a:off x="504825" y="301625"/>
            <a:ext cx="9067799" cy="1260474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 Reading</a:t>
            </a:r>
          </a:p>
        </p:txBody>
      </p:sp>
      <p:sp>
        <p:nvSpPr>
          <p:cNvPr id="639" name="Shape 639"/>
          <p:cNvSpPr txBox="1">
            <a:spLocks noGrp="1"/>
          </p:cNvSpPr>
          <p:nvPr>
            <p:ph type="body" idx="1"/>
          </p:nvPr>
        </p:nvSpPr>
        <p:spPr>
          <a:xfrm>
            <a:off x="504825" y="1768475"/>
            <a:ext cx="9067799" cy="4987924"/>
          </a:xfrm>
          <a:prstGeom prst="rect">
            <a:avLst/>
          </a:prstGeom>
          <a:noFill/>
          <a:ln>
            <a:noFill/>
          </a:ln>
        </p:spPr>
        <p:txBody>
          <a:bodyPr lIns="0" tIns="28200" rIns="0" bIns="0" anchor="t" anchorCtr="0">
            <a:noAutofit/>
          </a:bodyPr>
          <a:lstStyle/>
          <a:p>
            <a:r>
              <a:rPr lang="en-GB" dirty="0"/>
              <a:t>Bradley et al. 2011, Relationships between phenology, radiation and precipitation in the Amazon region, Global Change Biology Volume 17, Issue 6, pages 2245-2260, June 2011</a:t>
            </a:r>
          </a:p>
          <a:p>
            <a:r>
              <a:rPr lang="en-GB" dirty="0"/>
              <a:t>White, M. A., et al. (2009), Intercomparison, interpretation, and assessment of spring phenology in North America estimated from remote sensing for 1982-2006, Glob. Change Biol., 15(10), 2335-2359.</a:t>
            </a:r>
          </a:p>
          <a:p>
            <a:r>
              <a:rPr lang="en-GB" dirty="0">
                <a:solidFill>
                  <a:srgbClr val="FF0000"/>
                </a:solidFill>
              </a:rPr>
              <a:t>Studer, S. ; </a:t>
            </a:r>
            <a:r>
              <a:rPr lang="en-GB" dirty="0" err="1">
                <a:solidFill>
                  <a:srgbClr val="FF0000"/>
                </a:solidFill>
              </a:rPr>
              <a:t>Stockli</a:t>
            </a:r>
            <a:r>
              <a:rPr lang="en-GB" dirty="0">
                <a:solidFill>
                  <a:srgbClr val="FF0000"/>
                </a:solidFill>
              </a:rPr>
              <a:t>, R. ; Appenzeller, C. ; </a:t>
            </a:r>
            <a:r>
              <a:rPr lang="en-GB" dirty="0" err="1">
                <a:solidFill>
                  <a:srgbClr val="FF0000"/>
                </a:solidFill>
              </a:rPr>
              <a:t>Vidale</a:t>
            </a:r>
            <a:r>
              <a:rPr lang="en-GB" dirty="0">
                <a:solidFill>
                  <a:srgbClr val="FF0000"/>
                </a:solidFill>
              </a:rPr>
              <a:t>, P. ; </a:t>
            </a:r>
            <a:r>
              <a:rPr lang="en-GB" dirty="0" err="1">
                <a:solidFill>
                  <a:srgbClr val="FF0000"/>
                </a:solidFill>
              </a:rPr>
              <a:t>Vidale</a:t>
            </a:r>
            <a:r>
              <a:rPr lang="en-GB" dirty="0">
                <a:solidFill>
                  <a:srgbClr val="FF0000"/>
                </a:solidFill>
              </a:rPr>
              <a:t>, L. 2007, A comparative study of satellite and ground-based phenology , International Journal of Biometeorology, 2007, Vol.51(5), p.405-414</a:t>
            </a:r>
          </a:p>
          <a:p>
            <a:r>
              <a:rPr lang="en-GB" dirty="0" err="1"/>
              <a:t>Sobrino</a:t>
            </a:r>
            <a:r>
              <a:rPr lang="en-GB" dirty="0"/>
              <a:t>, JA., Yves Julien, Luis Morales, 2011, Changes in vegetation spring dates in the second half of the twentieth century, International Journal of Remote Sensing , Vol. 32, </a:t>
            </a:r>
            <a:r>
              <a:rPr lang="en-GB" dirty="0" err="1"/>
              <a:t>Iss</a:t>
            </a:r>
            <a:r>
              <a:rPr lang="en-GB" dirty="0"/>
              <a:t>. 18, 2011</a:t>
            </a:r>
          </a:p>
          <a:p>
            <a:r>
              <a:rPr lang="en-GB" dirty="0"/>
              <a:t>Schwartz, M.D and Hanes J.M. 2010, Continental-scale phenology: warming and chilling, Int. J. </a:t>
            </a:r>
            <a:r>
              <a:rPr lang="en-GB" dirty="0" err="1"/>
              <a:t>Climatol</a:t>
            </a:r>
            <a:r>
              <a:rPr lang="en-GB" dirty="0"/>
              <a:t>. 30: 1595-1598 (2010)</a:t>
            </a:r>
          </a:p>
          <a:p>
            <a:r>
              <a:rPr lang="en-GB" dirty="0"/>
              <a:t>Burrows, Michael T ; Schoeman, David S ; Buckley, Lauren B ; Moore, Pippa ; </a:t>
            </a:r>
            <a:r>
              <a:rPr lang="en-GB" dirty="0" err="1"/>
              <a:t>Poloczanska</a:t>
            </a:r>
            <a:r>
              <a:rPr lang="en-GB" dirty="0"/>
              <a:t>, Elvira S ; Brander, Keith M ; Brown, Chris ; Bruno, John F ; Duarte, Carlos M ; Halpern, Benjamin S ; Holding, Johnna ; Kappel, Carrie V ; </a:t>
            </a:r>
            <a:r>
              <a:rPr lang="en-GB" dirty="0" err="1"/>
              <a:t>Kiessling</a:t>
            </a:r>
            <a:r>
              <a:rPr lang="en-GB" dirty="0"/>
              <a:t>, Wolfgang ; O’Connor, Mary I ; </a:t>
            </a:r>
            <a:r>
              <a:rPr lang="en-GB" dirty="0" err="1"/>
              <a:t>Pandolfi</a:t>
            </a:r>
            <a:r>
              <a:rPr lang="en-GB" dirty="0"/>
              <a:t>, John M ; Parmesan, Camille ; Schwing, Franklin B ; </a:t>
            </a:r>
            <a:r>
              <a:rPr lang="en-GB" dirty="0" err="1"/>
              <a:t>Sydeman</a:t>
            </a:r>
            <a:r>
              <a:rPr lang="en-GB" dirty="0"/>
              <a:t>, William J ; Richardson, Anthony J, The pace of shifting climate in marine and terrestrial ecosystems, Science (New York, N.Y.), Nov, 2011, Vol.334(6056), p.652-5</a:t>
            </a:r>
          </a:p>
          <a:p>
            <a:r>
              <a:rPr lang="en-GB" dirty="0"/>
              <a:t>Reed, at el., 2009. Remote Sensing Phenology: Status and the Way Forward, in </a:t>
            </a:r>
            <a:r>
              <a:rPr lang="en-GB" dirty="0" err="1"/>
              <a:t>Noormets</a:t>
            </a:r>
            <a:r>
              <a:rPr lang="en-GB" dirty="0"/>
              <a:t>, A. Phenology of Ecosystem Processes: Application in Global Change Research. Springer, Dordrecht, pp. 275.</a:t>
            </a:r>
            <a:endParaRPr lang="en-US" sz="1600" b="0" i="0" u="none" strike="noStrike" cap="none" baseline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A770-94DA-C74E-8003-1C3170C3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3A4D5-5F65-914B-905E-51223DEAD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Picard, G., </a:t>
            </a:r>
            <a:r>
              <a:rPr lang="en-GB" dirty="0" err="1"/>
              <a:t>Quegan</a:t>
            </a:r>
            <a:r>
              <a:rPr lang="en-GB" dirty="0"/>
              <a:t>, S., </a:t>
            </a:r>
            <a:r>
              <a:rPr lang="en-GB" dirty="0" err="1"/>
              <a:t>Delabert</a:t>
            </a:r>
            <a:r>
              <a:rPr lang="en-GB" dirty="0"/>
              <a:t>, N., Lomas, M.R., Le </a:t>
            </a:r>
            <a:r>
              <a:rPr lang="en-GB" dirty="0" err="1"/>
              <a:t>Toan</a:t>
            </a:r>
            <a:r>
              <a:rPr lang="en-GB" dirty="0"/>
              <a:t>, T., Woodward, F.I. (2005) Bud-burst modelling in Siberia and its impact on quantifying the carbon budget, Global Change Biology 11 (2005) 2164-2176</a:t>
            </a:r>
          </a:p>
          <a:p>
            <a:r>
              <a:rPr lang="en-GB" dirty="0"/>
              <a:t>Jeffrey </a:t>
            </a:r>
            <a:r>
              <a:rPr lang="en-GB" dirty="0" err="1"/>
              <a:t>Morisette</a:t>
            </a:r>
            <a:r>
              <a:rPr lang="en-GB" dirty="0"/>
              <a:t>, Mark Schwartz (Lead Author);C Michael Hogan (Topic Editor) </a:t>
            </a:r>
            <a:r>
              <a:rPr lang="en-GB" dirty="0">
                <a:hlinkClick r:id="rId2"/>
              </a:rPr>
              <a:t>“Phenology”</a:t>
            </a:r>
            <a:r>
              <a:rPr lang="en-GB" dirty="0"/>
              <a:t> . In: </a:t>
            </a:r>
            <a:r>
              <a:rPr lang="en-GB" dirty="0" err="1"/>
              <a:t>Encyclopedia</a:t>
            </a:r>
            <a:r>
              <a:rPr lang="en-GB" dirty="0"/>
              <a:t> of Earth. Eds. Cutler J. Cleveland (Washington, D.C.: Environmental Information Coalition, National Council for Science and the Environment).</a:t>
            </a:r>
          </a:p>
          <a:p>
            <a:r>
              <a:rPr lang="en-GB" dirty="0"/>
              <a:t>Liang, LA ; Schwartz, MD ; Fei, SL, 2011, Validating satellite phenology through intensive ground observation and landscape scaling in a mixed seasonal forest, Remote sensing of environment, 2011 JAN 17, Vol.115(1), p.143-157</a:t>
            </a:r>
          </a:p>
          <a:p>
            <a:r>
              <a:rPr lang="en-GB" b="1" dirty="0">
                <a:solidFill>
                  <a:srgbClr val="FF0000"/>
                </a:solidFill>
              </a:rPr>
              <a:t>Korner and Basler,</a:t>
            </a:r>
            <a:r>
              <a:rPr lang="en-GB" dirty="0">
                <a:solidFill>
                  <a:srgbClr val="FF0000"/>
                </a:solidFill>
              </a:rPr>
              <a:t> 2010, Phenology Under Global Warming, Science 19 March 2010: 1461-1462.DOI:10.1126/science.1186473</a:t>
            </a:r>
          </a:p>
          <a:p>
            <a:r>
              <a:rPr lang="en-GB" dirty="0" err="1"/>
              <a:t>Defilia</a:t>
            </a:r>
            <a:r>
              <a:rPr lang="en-GB" dirty="0"/>
              <a:t> and Clot, 2005, </a:t>
            </a:r>
            <a:r>
              <a:rPr lang="en-GB" dirty="0" err="1"/>
              <a:t>Phytophenological</a:t>
            </a:r>
            <a:r>
              <a:rPr lang="en-GB" dirty="0"/>
              <a:t> trends in the Swiss Alps, 1951-2002, </a:t>
            </a:r>
            <a:r>
              <a:rPr lang="en-GB" dirty="0" err="1"/>
              <a:t>Meteorologische</a:t>
            </a:r>
            <a:r>
              <a:rPr lang="en-GB" dirty="0"/>
              <a:t> </a:t>
            </a:r>
            <a:r>
              <a:rPr lang="en-GB" dirty="0" err="1"/>
              <a:t>Zeitschrift</a:t>
            </a:r>
            <a:r>
              <a:rPr lang="en-GB" dirty="0"/>
              <a:t>, Vol. 14, No. 2, 191-196 (April 2005)</a:t>
            </a:r>
          </a:p>
          <a:p>
            <a:r>
              <a:rPr lang="en-GB" dirty="0"/>
              <a:t>Fisher, JI ; Richardson, AD ; Mustard, JF, 2007, Phenology model from surface meteorology does not capture satellite-based </a:t>
            </a:r>
            <a:r>
              <a:rPr lang="en-GB" dirty="0" err="1"/>
              <a:t>greenup</a:t>
            </a:r>
            <a:r>
              <a:rPr lang="en-GB" dirty="0"/>
              <a:t> estimations, lobal change biology, 2007 MAR, Vol.13(3), p.707-721</a:t>
            </a:r>
          </a:p>
          <a:p>
            <a:pPr lvl="0">
              <a:spcAft>
                <a:spcPts val="0"/>
              </a:spcAft>
              <a:buSzPct val="25000"/>
            </a:pPr>
            <a:r>
              <a:rPr lang="en-US" sz="1600" dirty="0">
                <a:solidFill>
                  <a:srgbClr val="FF0000"/>
                </a:solidFill>
              </a:rPr>
              <a:t>Zhang, X. Y., </a:t>
            </a:r>
            <a:r>
              <a:rPr lang="en-US" sz="1600" dirty="0" err="1">
                <a:solidFill>
                  <a:srgbClr val="FF0000"/>
                </a:solidFill>
              </a:rPr>
              <a:t>Friedl</a:t>
            </a:r>
            <a:r>
              <a:rPr lang="en-US" sz="1600" dirty="0">
                <a:solidFill>
                  <a:srgbClr val="FF0000"/>
                </a:solidFill>
              </a:rPr>
              <a:t>, M. A., Schaaf, C. B., Strahler, A. H., Hodges, J. C. F., Gao, F., et al. (2003). Monitoring vegetation phenology using MODIS. Remote Sensing of Environment, 84, 471-475.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22644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6545</TotalTime>
  <Words>1612</Words>
  <Application>Microsoft Macintosh PowerPoint</Application>
  <PresentationFormat>Custom</PresentationFormat>
  <Paragraphs>111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Default Design</vt:lpstr>
      <vt:lpstr>GEOG0113 Lecture 009 Phenology</vt:lpstr>
      <vt:lpstr>Aims of lecture</vt:lpstr>
      <vt:lpstr>Phenology</vt:lpstr>
      <vt:lpstr>Definition - Phenology</vt:lpstr>
      <vt:lpstr>Phenology</vt:lpstr>
      <vt:lpstr>Extratropics (outside tropics)</vt:lpstr>
      <vt:lpstr>PowerPoint Presentation</vt:lpstr>
      <vt:lpstr>phenology</vt:lpstr>
      <vt:lpstr>Models of phenology</vt:lpstr>
      <vt:lpstr>Track features of phenology</vt:lpstr>
      <vt:lpstr>Track features of phenology</vt:lpstr>
      <vt:lpstr>PowerPoint Presentation</vt:lpstr>
      <vt:lpstr>(Growing) Degree day model</vt:lpstr>
      <vt:lpstr>PowerPoint Presentation</vt:lpstr>
      <vt:lpstr>Model calibration</vt:lpstr>
      <vt:lpstr>Chilling</vt:lpstr>
      <vt:lpstr>PowerPoint Presentation</vt:lpstr>
      <vt:lpstr>tropics</vt:lpstr>
      <vt:lpstr>Summary</vt:lpstr>
      <vt:lpstr>Recommended 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Geogg124 Terrestrial Ecosystem Modelling</dc:title>
  <cp:lastModifiedBy>Harry Heorton</cp:lastModifiedBy>
  <cp:revision>29</cp:revision>
  <dcterms:modified xsi:type="dcterms:W3CDTF">2026-02-11T13:53:11Z</dcterms:modified>
</cp:coreProperties>
</file>